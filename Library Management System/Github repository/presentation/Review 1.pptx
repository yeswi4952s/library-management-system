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</p:sldIdLst>
  <p:sldSz cx="9144000" cy="5143500"/>
  <p:notesSz cx="5143500" cy="9144000"/>
  <p:embeddedFontLst>
    <p:embeddedFont>
      <p:font typeface="Raleway" pitchFamily="34" charset="-122"/>
      <p:regular r:id="rId19"/>
    </p:embeddedFont>
    <p:embeddedFont>
      <p:font typeface="Raleway" pitchFamily="34" charset="0"/>
      <p:regular r:id="rId20"/>
    </p:embeddedFont>
    <p:embeddedFont>
      <p:font typeface="Raleway" pitchFamily="34" charset="-120"/>
      <p:regular r:id="rId21"/>
    </p:embeddedFont>
    <p:embeddedFont>
      <p:font typeface="Roboto" panose="02000000000000000000" pitchFamily="34" charset="0"/>
      <p:regular r:id="rId22"/>
    </p:embeddedFont>
    <p:embeddedFont>
      <p:font typeface="Roboto" panose="02000000000000000000" pitchFamily="34" charset="-122"/>
      <p:regular r:id="rId23"/>
    </p:embeddedFont>
    <p:embeddedFont>
      <p:font typeface="Roboto" panose="02000000000000000000" pitchFamily="34" charset="-120"/>
      <p:regular r:id="rId24"/>
    </p:embeddedFont>
    <p:embeddedFont>
      <p:font typeface="Roboto Bold" panose="02000000000000000000" pitchFamily="34" charset="-122"/>
      <p:bold r:id="rId25"/>
    </p:embeddedFont>
    <p:embeddedFont>
      <p:font typeface="Roboto Bold" panose="02000000000000000000" pitchFamily="34" charset="0"/>
      <p:bold r:id="rId26"/>
    </p:embeddedFont>
    <p:embeddedFont>
      <p:font typeface="Roboto Bold" panose="02000000000000000000" pitchFamily="34" charset="-120"/>
      <p:bold r:id="rId27"/>
    </p:embeddedFont>
    <p:embeddedFont>
      <p:font typeface="Consolas" panose="020B0609020204030204" pitchFamily="34" charset="0"/>
      <p:regular r:id="rId28"/>
      <p:bold r:id="rId29"/>
      <p:italic r:id="rId30"/>
      <p:boldItalic r:id="rId31"/>
    </p:embeddedFont>
    <p:embeddedFont>
      <p:font typeface="Consolas" panose="020B0609020204030204" pitchFamily="34" charset="-122"/>
      <p:regular r:id="rId32"/>
      <p:bold r:id="rId33"/>
      <p:italic r:id="rId34"/>
      <p:boldItalic r:id="rId35"/>
    </p:embeddedFont>
    <p:embeddedFont>
      <p:font typeface="Consolas" panose="020B0609020204030204" pitchFamily="34" charset="-120"/>
      <p:regular r:id="rId36"/>
      <p:bold r:id="rId37"/>
      <p:italic r:id="rId38"/>
      <p:boldItalic r:id="rId39"/>
    </p:embeddedFont>
    <p:embeddedFont>
      <p:font typeface="Calibri" panose="020F0502020204030204" charset="0"/>
      <p:regular r:id="rId40"/>
      <p:bold r:id="rId41"/>
      <p:italic r:id="rId42"/>
      <p:boldItalic r:id="rId4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font" Target="fonts/font25.fntdata"/><Relationship Id="rId42" Type="http://schemas.openxmlformats.org/officeDocument/2006/relationships/font" Target="fonts/font24.fntdata"/><Relationship Id="rId41" Type="http://schemas.openxmlformats.org/officeDocument/2006/relationships/font" Target="fonts/font23.fntdata"/><Relationship Id="rId40" Type="http://schemas.openxmlformats.org/officeDocument/2006/relationships/font" Target="fonts/font22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21.fntdata"/><Relationship Id="rId38" Type="http://schemas.openxmlformats.org/officeDocument/2006/relationships/font" Target="fonts/font20.fntdata"/><Relationship Id="rId37" Type="http://schemas.openxmlformats.org/officeDocument/2006/relationships/font" Target="fonts/font19.fntdata"/><Relationship Id="rId36" Type="http://schemas.openxmlformats.org/officeDocument/2006/relationships/font" Target="fonts/font18.fntdata"/><Relationship Id="rId35" Type="http://schemas.openxmlformats.org/officeDocument/2006/relationships/font" Target="fonts/font17.fntdata"/><Relationship Id="rId34" Type="http://schemas.openxmlformats.org/officeDocument/2006/relationships/font" Target="fonts/font16.fntdata"/><Relationship Id="rId33" Type="http://schemas.openxmlformats.org/officeDocument/2006/relationships/font" Target="fonts/font15.fntdata"/><Relationship Id="rId32" Type="http://schemas.openxmlformats.org/officeDocument/2006/relationships/font" Target="fonts/font14.fntdata"/><Relationship Id="rId31" Type="http://schemas.openxmlformats.org/officeDocument/2006/relationships/font" Target="fonts/font13.fntdata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92480"/>
            <a:ext cx="9090025" cy="789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B1B27"/>
                </a:solidFill>
                <a:latin typeface="Times New Roman" panose="02020603050405020304" charset="0"/>
                <a:ea typeface="Raleway" pitchFamily="34" charset="-122"/>
                <a:cs typeface="Times New Roman" panose="02020603050405020304" charset="0"/>
              </a:rPr>
              <a:t>  Library Management System</a:t>
            </a:r>
            <a:endParaRPr lang="en-US" sz="275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87204" y="1427793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 Design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754" y="4152930"/>
            <a:ext cx="8151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 comprehensive relational database architecture for modern library operations — covering entities, schemas, relationships, and team workflow.</a:t>
            </a:r>
            <a:endParaRPr lang="en-US" sz="1100" dirty="0"/>
          </a:p>
        </p:txBody>
      </p:sp>
      <p:sp>
        <p:nvSpPr>
          <p:cNvPr id="5" name="Text Box 4"/>
          <p:cNvSpPr txBox="1"/>
          <p:nvPr/>
        </p:nvSpPr>
        <p:spPr>
          <a:xfrm>
            <a:off x="255270" y="1581785"/>
            <a:ext cx="6085205" cy="1509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Presented by :</a:t>
            </a:r>
            <a:endParaRPr 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457200"/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CH. VENKANNA BABU     25B11AI188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/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G .   AVINASH                      25B11AI374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/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M.   VENKATA SWAMI       25B11AI656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/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CH . BHARGAV                   25B11AI228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052060" y="2169160"/>
            <a:ext cx="40919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        </a:t>
            </a:r>
            <a:r>
              <a:rPr lang="en-US" sz="1600"/>
              <a:t>Under the Guidence :</a:t>
            </a:r>
            <a:endParaRPr lang="en-US" sz="1600"/>
          </a:p>
          <a:p>
            <a:pPr indent="457200"/>
            <a:r>
              <a:rPr lang="en-US"/>
              <a:t>      </a:t>
            </a:r>
            <a:r>
              <a:rPr lang="en-US" b="1" i="1"/>
              <a:t>Mrs . </a:t>
            </a:r>
            <a:r>
              <a:rPr lang="en-US" b="1" i="1">
                <a:sym typeface="+mn-ea"/>
              </a:rPr>
              <a:t>G L Narasamba Vanguri</a:t>
            </a:r>
            <a:endParaRPr lang="en-US" b="1" i="1"/>
          </a:p>
          <a:p>
            <a:pPr indent="457200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722755" y="3611245"/>
            <a:ext cx="55962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sym typeface="+mn-ea"/>
              </a:rPr>
              <a:t>Department : Artificial Intelligence &amp; Machine Learning</a:t>
            </a:r>
            <a:endParaRPr lang="en-US" sz="1600"/>
          </a:p>
        </p:txBody>
      </p:sp>
      <p:pic>
        <p:nvPicPr>
          <p:cNvPr id="10" name="Picture 9"/>
          <p:cNvPicPr/>
          <p:nvPr/>
        </p:nvPicPr>
        <p:blipFill>
          <a:blip r:embed="rId1"/>
          <a:stretch>
            <a:fillRect/>
          </a:stretch>
        </p:blipFill>
        <p:spPr>
          <a:xfrm>
            <a:off x="85090" y="106680"/>
            <a:ext cx="1637665" cy="706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3943"/>
            <a:ext cx="1097087" cy="191839"/>
          </a:xfrm>
          <a:prstGeom prst="roundRect">
            <a:avLst>
              <a:gd name="adj" fmla="val 22114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71872" y="511820"/>
            <a:ext cx="1402779" cy="1160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PROJECT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10729"/>
            <a:ext cx="8151763" cy="3945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96119" y="1435968"/>
            <a:ext cx="5190753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This project delivers a structured, scalable relational database system to power all core library operations — from inventory tracking to member management.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44365"/>
            <a:ext cx="5190753" cy="25378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9052" y="2144881"/>
            <a:ext cx="1120061" cy="144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 Schema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9052" y="2330089"/>
            <a:ext cx="1120061" cy="2180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Design relational models for growth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39531" y="2144881"/>
            <a:ext cx="1120061" cy="2883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Inventory Management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39531" y="2474282"/>
            <a:ext cx="1120061" cy="2180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Manage books, copies, and locations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19052" y="3479949"/>
            <a:ext cx="1120061" cy="1441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Member &amp; Loans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9052" y="3665158"/>
            <a:ext cx="1120061" cy="2180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Track members and borrowing records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434324" y="3479949"/>
            <a:ext cx="1120061" cy="1441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Availability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434324" y="3665158"/>
            <a:ext cx="1120061" cy="2180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Enable live status and reservations</a:t>
            </a:r>
            <a:endParaRPr lang="en-US" sz="7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1400398"/>
            <a:ext cx="2652861" cy="972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97352" y="1540892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 Architecture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197352" y="1850603"/>
            <a:ext cx="2314724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Design a relational database that grows with library operations and user demand.</a:t>
            </a:r>
            <a:endParaRPr lang="en-US" sz="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2485430"/>
            <a:ext cx="2652861" cy="972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97352" y="2625923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Unified Management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97352" y="2935635"/>
            <a:ext cx="2314724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Centralize books, members, borrowing records, and inventory in one system.</a:t>
            </a:r>
            <a:endParaRPr lang="en-US" sz="9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3570461"/>
            <a:ext cx="2652861" cy="972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97352" y="3710955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Tracking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197352" y="4020666"/>
            <a:ext cx="2314724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Enable live visibility into book availability and member account status.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91270"/>
            <a:ext cx="671810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81174" y="1033760"/>
            <a:ext cx="958900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CONTEXT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63328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918915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640" y="2065437"/>
            <a:ext cx="23296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⏱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Checkout Delays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2640" y="2371948"/>
            <a:ext cx="2329681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Manual processes slow down book checkouts and returns, creating frustrating bottlenecks for staff and members.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918915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7122" y="2065437"/>
            <a:ext cx="23296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📦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No Central Inventory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7122" y="2371948"/>
            <a:ext cx="2329681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Without a centralized system, tracking book stock and member borrowing history is error-prone and inconsistent.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918915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1605" y="2065437"/>
            <a:ext cx="23296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📋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Reporting Gaps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1605" y="2371948"/>
            <a:ext cx="2329681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Overdue book management and operational reporting are difficult, inefficient, and largely manual today.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585195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E1E1EA"/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785964"/>
            <a:ext cx="177180" cy="1417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6816" y="3762375"/>
            <a:ext cx="8006507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These pain points define the core requirements that drive our database design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20154" cy="107603"/>
          </a:xfrm>
          <a:prstGeom prst="roundRect">
            <a:avLst>
              <a:gd name="adj" fmla="val 22134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38609" y="411063"/>
            <a:ext cx="892373" cy="65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DATA MODELING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Entities Identified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414662"/>
            <a:ext cx="398941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560811"/>
            <a:ext cx="4446612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3232" y="2677716"/>
            <a:ext cx="3989412" cy="572095"/>
          </a:xfrm>
          <a:prstGeom prst="rect">
            <a:avLst/>
          </a:prstGeom>
          <a:noFill/>
        </p:spPr>
        <p:txBody>
          <a:bodyPr wrap="square" lIns="0" tIns="28353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550" dirty="0"/>
          </a:p>
        </p:txBody>
      </p:sp>
      <p:sp>
        <p:nvSpPr>
          <p:cNvPr id="10" name="Text Box 9"/>
          <p:cNvSpPr txBox="1"/>
          <p:nvPr/>
        </p:nvSpPr>
        <p:spPr>
          <a:xfrm>
            <a:off x="4663440" y="1689100"/>
            <a:ext cx="4140835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charset="0"/>
                <a:ea typeface="Roboto Bold" panose="02000000000000000000" pitchFamily="34" charset="-122"/>
                <a:cs typeface="Times New Roman" panose="02020603050405020304" charset="0"/>
                <a:sym typeface="+mn-ea"/>
              </a:rPr>
              <a:t>Members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 — User ID, Name, Email, Phone, Address, Membership Date</a:t>
            </a:r>
            <a:endParaRPr 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charset="0"/>
                <a:ea typeface="Roboto Bold" panose="02000000000000000000" pitchFamily="34" charset="-122"/>
                <a:cs typeface="Times New Roman" panose="02020603050405020304" charset="0"/>
                <a:sym typeface="+mn-ea"/>
              </a:rPr>
              <a:t>Books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 — ISBN, Title, Author, Publisher, Genre, Quantity</a:t>
            </a:r>
            <a:endParaRPr 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charset="0"/>
                <a:ea typeface="Roboto Bold" panose="02000000000000000000" pitchFamily="34" charset="-122"/>
                <a:cs typeface="Times New Roman" panose="02020603050405020304" charset="0"/>
                <a:sym typeface="+mn-ea"/>
              </a:rPr>
              <a:t>Authors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 — Author ID, Name, Nationality, Birth Date</a:t>
            </a:r>
            <a:endParaRPr 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charset="0"/>
                <a:ea typeface="Roboto Bold" panose="02000000000000000000" pitchFamily="34" charset="-122"/>
                <a:cs typeface="Times New Roman" panose="02020603050405020304" charset="0"/>
                <a:sym typeface="+mn-ea"/>
              </a:rPr>
              <a:t>Borrowing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 — Borrow ID, Member ID, Book ID, Dates</a:t>
            </a:r>
            <a:endParaRPr 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charset="0"/>
                <a:ea typeface="Roboto Bold" panose="02000000000000000000" pitchFamily="34" charset="-122"/>
                <a:cs typeface="Times New Roman" panose="02020603050405020304" charset="0"/>
                <a:sym typeface="+mn-ea"/>
              </a:rPr>
              <a:t>Fines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 — Fine ID, Member ID, Amount, Status, Date Issued</a:t>
            </a:r>
            <a:endParaRPr 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charset="0"/>
                <a:ea typeface="Roboto Bold" panose="02000000000000000000" pitchFamily="34" charset="-122"/>
                <a:cs typeface="Times New Roman" panose="02020603050405020304" charset="0"/>
                <a:sym typeface="+mn-ea"/>
              </a:rPr>
              <a:t>Inventory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 — Inventory ID, Book ID, Location, Condition, Status</a:t>
            </a:r>
            <a:endParaRPr 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732655" y="732790"/>
            <a:ext cx="4246880" cy="956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600" dirty="0">
                <a:solidFill>
                  <a:srgbClr val="3C3939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The system is built around six well-defined entities, each capturing a distinct domain of library operations.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732655" y="36449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chemeClr val="tx1"/>
                </a:solidFill>
                <a:latin typeface="Times New Roman" panose="02020603050405020304" charset="0"/>
                <a:ea typeface="Raleway" pitchFamily="34" charset="-122"/>
                <a:cs typeface="Times New Roman" panose="02020603050405020304" charset="0"/>
                <a:sym typeface="+mn-ea"/>
              </a:rPr>
              <a:t>Six Key Entities</a:t>
            </a:r>
            <a:endParaRPr lang="en-US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84337"/>
            <a:ext cx="812974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81174" y="926827"/>
            <a:ext cx="1100063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DATA 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56395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Entity Attributes &amp; Data Types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811982"/>
            <a:ext cx="8151763" cy="2060823"/>
          </a:xfrm>
          <a:prstGeom prst="roundRect">
            <a:avLst>
              <a:gd name="adj" fmla="val 28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222557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496119" y="2636788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96119" y="3048000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496119" y="3459212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00955" y="1816745"/>
            <a:ext cx="1628403" cy="408831"/>
          </a:xfrm>
          <a:custGeom>
            <a:avLst/>
            <a:gdLst/>
            <a:ahLst/>
            <a:cxnLst/>
            <a:rect l="l" t="t" r="r" b="b"/>
            <a:pathLst>
              <a:path w="1628403" h="408831">
                <a:moveTo>
                  <a:pt x="49619" y="0"/>
                </a:moveTo>
                <a:lnTo>
                  <a:pt x="1628403" y="0"/>
                </a:lnTo>
                <a:lnTo>
                  <a:pt x="1628403" y="408831"/>
                </a:lnTo>
                <a:lnTo>
                  <a:pt x="0" y="408831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1B1B27"/>
          </a:solidFill>
        </p:spPr>
      </p:sp>
      <p:sp>
        <p:nvSpPr>
          <p:cNvPr id="11" name="Text 9"/>
          <p:cNvSpPr/>
          <p:nvPr/>
        </p:nvSpPr>
        <p:spPr>
          <a:xfrm>
            <a:off x="642714" y="1906563"/>
            <a:ext cx="180208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Entity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29358" y="1816745"/>
            <a:ext cx="3256880" cy="408831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3" name="Text 11"/>
          <p:cNvSpPr/>
          <p:nvPr/>
        </p:nvSpPr>
        <p:spPr>
          <a:xfrm>
            <a:off x="2271117" y="1906563"/>
            <a:ext cx="34305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Key Attributes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86239" y="1816745"/>
            <a:ext cx="3256880" cy="408831"/>
          </a:xfrm>
          <a:custGeom>
            <a:avLst/>
            <a:gdLst/>
            <a:ahLst/>
            <a:cxnLst/>
            <a:rect l="l" t="t" r="r" b="b"/>
            <a:pathLst>
              <a:path w="3256880" h="408831">
                <a:moveTo>
                  <a:pt x="0" y="0"/>
                </a:moveTo>
                <a:lnTo>
                  <a:pt x="3207262" y="0"/>
                </a:lnTo>
                <a:arcTo wR="49619" hR="49619" stAng="16200000" swAng="5400000"/>
                <a:lnTo>
                  <a:pt x="3256880" y="408831"/>
                </a:lnTo>
                <a:lnTo>
                  <a:pt x="0" y="408831"/>
                </a:lnTo>
                <a:lnTo>
                  <a:pt x="0" y="0"/>
                </a:lnTo>
                <a:close/>
              </a:path>
            </a:pathLst>
          </a:custGeom>
          <a:solidFill>
            <a:srgbClr val="1B1B27"/>
          </a:solidFill>
        </p:spPr>
      </p:sp>
      <p:sp>
        <p:nvSpPr>
          <p:cNvPr id="15" name="Text 13"/>
          <p:cNvSpPr/>
          <p:nvPr/>
        </p:nvSpPr>
        <p:spPr>
          <a:xfrm>
            <a:off x="5527997" y="1906563"/>
            <a:ext cx="34305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2317775"/>
            <a:ext cx="180208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Members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71117" y="2317775"/>
            <a:ext cx="34305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ID, Name, Email, Phone, Membership 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27997" y="2317775"/>
            <a:ext cx="34305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INT, VARCHAR, VARCHAR, CHAR, 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14" y="2728987"/>
            <a:ext cx="180208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Books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71117" y="2728987"/>
            <a:ext cx="34305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ISBN, Title, Quantity, Genre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27997" y="2728987"/>
            <a:ext cx="34305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VARCHAR, VARCHAR, INT, ENUM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2714" y="3140199"/>
            <a:ext cx="180208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Borrowing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71117" y="3140199"/>
            <a:ext cx="34305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IDs, Borrow Date, Due Date, Return Date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27997" y="3140199"/>
            <a:ext cx="34305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INT, DATE, DATE, DATE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2714" y="3551411"/>
            <a:ext cx="180208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Fines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71117" y="3551411"/>
            <a:ext cx="34305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ID, Amount, Status, Date Issued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27997" y="3551411"/>
            <a:ext cx="34305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INT, INT, ENUM, 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6119" y="4032275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Choosing precise data types ensures storage efficiency, query performance, and integrity enforcement at the database level.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4260"/>
            <a:ext cx="415677" cy="107603"/>
          </a:xfrm>
          <a:prstGeom prst="roundRect">
            <a:avLst>
              <a:gd name="adj" fmla="val 22134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496064" y="97373"/>
            <a:ext cx="787896" cy="65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ER DIAGRAM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501199" y="181397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Entity Relationships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663232" y="2174528"/>
            <a:ext cx="398941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4893543" y="2325067"/>
            <a:ext cx="3759101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4893543" y="2471217"/>
            <a:ext cx="3759101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11" name="Text 6"/>
          <p:cNvSpPr/>
          <p:nvPr/>
        </p:nvSpPr>
        <p:spPr>
          <a:xfrm>
            <a:off x="4893543" y="2627114"/>
            <a:ext cx="3759101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4893543" y="2773263"/>
            <a:ext cx="3759101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14" name="Text 8"/>
          <p:cNvSpPr/>
          <p:nvPr/>
        </p:nvSpPr>
        <p:spPr>
          <a:xfrm>
            <a:off x="4893543" y="2929161"/>
            <a:ext cx="3759101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4893543" y="3075310"/>
            <a:ext cx="3759101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17" name="Text 10"/>
          <p:cNvSpPr/>
          <p:nvPr/>
        </p:nvSpPr>
        <p:spPr>
          <a:xfrm>
            <a:off x="4893543" y="3231207"/>
            <a:ext cx="3759101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50" dirty="0"/>
          </a:p>
        </p:txBody>
      </p:sp>
      <p:sp>
        <p:nvSpPr>
          <p:cNvPr id="18" name="Text 11"/>
          <p:cNvSpPr/>
          <p:nvPr/>
        </p:nvSpPr>
        <p:spPr>
          <a:xfrm>
            <a:off x="4893543" y="3377357"/>
            <a:ext cx="3759101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21" name="Text Box 20"/>
          <p:cNvSpPr txBox="1"/>
          <p:nvPr/>
        </p:nvSpPr>
        <p:spPr>
          <a:xfrm>
            <a:off x="4552950" y="7137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One-to-Many Relationships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4552950" y="1082040"/>
            <a:ext cx="5082540" cy="43694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olidFill>
                  <a:schemeClr val="tx1"/>
                </a:solidFill>
              </a:rPr>
              <a:t> Members --&gt; Borrowing</a:t>
            </a:r>
            <a:endParaRPr lang="en-US">
              <a:solidFill>
                <a:schemeClr val="tx1"/>
              </a:solidFill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sz="1400">
                <a:solidFill>
                  <a:schemeClr val="tx1"/>
                </a:solidFill>
              </a:rPr>
              <a:t>one member can borrow multiple books over time</a:t>
            </a: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olidFill>
                  <a:schemeClr val="tx1"/>
                </a:solidFill>
              </a:rPr>
              <a:t> Books --&gt; Borrowing</a:t>
            </a:r>
            <a:endParaRPr lang="en-US">
              <a:solidFill>
                <a:schemeClr val="tx1"/>
              </a:solidFill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sz="1400">
                <a:solidFill>
                  <a:schemeClr val="tx1"/>
                </a:solidFill>
              </a:rPr>
              <a:t>one book can be borrowed by multiple members </a:t>
            </a:r>
            <a:endParaRPr lang="en-US" sz="1400">
              <a:solidFill>
                <a:schemeClr val="tx1"/>
              </a:solidFill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sz="1400">
                <a:solidFill>
                  <a:schemeClr val="tx1"/>
                </a:solidFill>
              </a:rPr>
              <a:t>sequentially</a:t>
            </a:r>
            <a:endParaRPr lang="en-US" sz="1400">
              <a:solidFill>
                <a:schemeClr val="tx1"/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  <a:sym typeface="+mn-ea"/>
              </a:rPr>
              <a:t>Authors → Books</a:t>
            </a:r>
            <a:endParaRPr lang="en-US" dirty="0">
              <a:solidFill>
                <a:schemeClr val="tx1"/>
              </a:solidFill>
              <a:latin typeface="Raleway" pitchFamily="34" charset="0"/>
              <a:ea typeface="Raleway" pitchFamily="34" charset="-122"/>
              <a:cs typeface="Raleway" pitchFamily="34" charset="-120"/>
              <a:sym typeface="+mn-ea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One author may write multiple books in the</a:t>
            </a:r>
            <a:endParaRPr lang="en-US" sz="1400" dirty="0">
              <a:solidFill>
                <a:schemeClr val="tx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  <a:sym typeface="+mn-ea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 catalog.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dirty="0">
              <a:solidFill>
                <a:schemeClr val="tx1"/>
              </a:solidFill>
              <a:latin typeface="Raleway" pitchFamily="34" charset="0"/>
              <a:ea typeface="Raleway" pitchFamily="34" charset="-122"/>
              <a:cs typeface="Raleway" pitchFamily="34" charset="-120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  <a:sym typeface="+mn-ea"/>
              </a:rPr>
              <a:t>Books → Inventory</a:t>
            </a:r>
            <a:endParaRPr lang="en-US" dirty="0">
              <a:solidFill>
                <a:schemeClr val="tx1"/>
              </a:solidFill>
              <a:latin typeface="Raleway" pitchFamily="34" charset="0"/>
              <a:ea typeface="Raleway" pitchFamily="34" charset="-122"/>
              <a:cs typeface="Raleway" pitchFamily="34" charset="-120"/>
              <a:sym typeface="+mn-ea"/>
            </a:endParaRPr>
          </a:p>
          <a:p>
            <a:pPr indent="457200">
              <a:buFont typeface="Wingdings" panose="05000000000000000000" charset="0"/>
              <a:buNone/>
            </a:pPr>
            <a:endParaRPr lang="en-US" sz="1400" dirty="0">
              <a:solidFill>
                <a:schemeClr val="tx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  <a:sym typeface="+mn-ea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One book title can have multiple physical </a:t>
            </a:r>
            <a:endParaRPr lang="en-US" sz="1400" dirty="0">
              <a:solidFill>
                <a:schemeClr val="tx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  <a:sym typeface="+mn-ea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copies tracked</a:t>
            </a:r>
            <a:r>
              <a:rPr lang="en-US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 indent="457200">
              <a:buFont typeface="Wingdings" panose="05000000000000000000" charset="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/>
          <p:nvPr/>
        </p:nvPicPr>
        <p:blipFill>
          <a:blip r:embed="rId1"/>
          <a:stretch>
            <a:fillRect/>
          </a:stretch>
        </p:blipFill>
        <p:spPr>
          <a:xfrm>
            <a:off x="403860" y="601345"/>
            <a:ext cx="3688080" cy="4428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64766"/>
            <a:ext cx="1053405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81174" y="907256"/>
            <a:ext cx="1340495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SCHEMA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3682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Relational Schema: Primary Tables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92412"/>
            <a:ext cx="2622724" cy="187322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180" y="1915344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6927" y="2378497"/>
            <a:ext cx="230110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Members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56927" y="2685008"/>
            <a:ext cx="2301106" cy="231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PK: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member_id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56927" y="3001640"/>
            <a:ext cx="2301106" cy="503188"/>
          </a:xfrm>
          <a:prstGeom prst="rect">
            <a:avLst/>
          </a:prstGeom>
          <a:noFill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name, email, phone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address, membership_date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0601" y="1792412"/>
            <a:ext cx="2622724" cy="187322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65662" y="1915344"/>
            <a:ext cx="212601" cy="212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21410" y="2378497"/>
            <a:ext cx="230110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Books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3421410" y="2685008"/>
            <a:ext cx="2301106" cy="231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PK: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book_id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421410" y="3001640"/>
            <a:ext cx="2301106" cy="503188"/>
          </a:xfrm>
          <a:prstGeom prst="rect">
            <a:avLst/>
          </a:prstGeom>
          <a:noFill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isbn, title, genre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publisher, quantity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5083" y="1792412"/>
            <a:ext cx="2622724" cy="1873225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0145" y="1915344"/>
            <a:ext cx="212601" cy="21260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185892" y="2378497"/>
            <a:ext cx="230110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Authors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6185892" y="2685008"/>
            <a:ext cx="2301106" cy="231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PK: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author_id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6185892" y="3001640"/>
            <a:ext cx="2301106" cy="503188"/>
          </a:xfrm>
          <a:prstGeom prst="rect">
            <a:avLst/>
          </a:prstGeom>
          <a:noFill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name, nationality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birth_date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496119" y="3825106"/>
            <a:ext cx="8151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These three primary tables form the core of the schema, holding master data that junction and detail tables reference via foreign keys.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58366"/>
            <a:ext cx="1053405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81174" y="900857"/>
            <a:ext cx="1340495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SCHEMA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3042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Relational Schema: Junction &amp; Detail Tables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786012"/>
            <a:ext cx="8151763" cy="1885950"/>
          </a:xfrm>
          <a:prstGeom prst="roundRect">
            <a:avLst>
              <a:gd name="adj" fmla="val 315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219960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496119" y="2615580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96119" y="325360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2292325" y="1786012"/>
            <a:ext cx="8860" cy="188595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083546" y="1786012"/>
            <a:ext cx="8860" cy="188595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526188" y="1786012"/>
            <a:ext cx="8860" cy="188595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501104" y="1790774"/>
            <a:ext cx="1791221" cy="408831"/>
          </a:xfrm>
          <a:custGeom>
            <a:avLst/>
            <a:gdLst/>
            <a:ahLst/>
            <a:cxnLst/>
            <a:rect l="l" t="t" r="r" b="b"/>
            <a:pathLst>
              <a:path w="1791221" h="408831">
                <a:moveTo>
                  <a:pt x="49619" y="0"/>
                </a:moveTo>
                <a:lnTo>
                  <a:pt x="1791221" y="0"/>
                </a:lnTo>
                <a:lnTo>
                  <a:pt x="1791221" y="408831"/>
                </a:lnTo>
                <a:lnTo>
                  <a:pt x="0" y="408831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1B1B27"/>
          </a:solidFill>
        </p:spPr>
      </p:sp>
      <p:sp>
        <p:nvSpPr>
          <p:cNvPr id="13" name="Text 11"/>
          <p:cNvSpPr/>
          <p:nvPr/>
        </p:nvSpPr>
        <p:spPr>
          <a:xfrm>
            <a:off x="642863" y="1880592"/>
            <a:ext cx="196252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92325" y="1790774"/>
            <a:ext cx="1791221" cy="408831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5" name="Text 13"/>
          <p:cNvSpPr/>
          <p:nvPr/>
        </p:nvSpPr>
        <p:spPr>
          <a:xfrm>
            <a:off x="2436465" y="1880592"/>
            <a:ext cx="1960141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Primary Key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83546" y="1790774"/>
            <a:ext cx="2442642" cy="408831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7" name="Text 15"/>
          <p:cNvSpPr/>
          <p:nvPr/>
        </p:nvSpPr>
        <p:spPr>
          <a:xfrm>
            <a:off x="4227686" y="1880592"/>
            <a:ext cx="261156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Foreign Keys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26188" y="1790774"/>
            <a:ext cx="2116931" cy="408831"/>
          </a:xfrm>
          <a:custGeom>
            <a:avLst/>
            <a:gdLst/>
            <a:ahLst/>
            <a:cxnLst/>
            <a:rect l="l" t="t" r="r" b="b"/>
            <a:pathLst>
              <a:path w="2116931" h="408831">
                <a:moveTo>
                  <a:pt x="0" y="0"/>
                </a:moveTo>
                <a:lnTo>
                  <a:pt x="2067313" y="0"/>
                </a:lnTo>
                <a:arcTo wR="49619" hR="49619" stAng="16200000" swAng="5400000"/>
                <a:lnTo>
                  <a:pt x="2116931" y="408831"/>
                </a:lnTo>
                <a:lnTo>
                  <a:pt x="0" y="408831"/>
                </a:lnTo>
                <a:lnTo>
                  <a:pt x="0" y="0"/>
                </a:lnTo>
                <a:close/>
              </a:path>
            </a:pathLst>
          </a:custGeom>
          <a:solidFill>
            <a:srgbClr val="1B1B27"/>
          </a:solidFill>
        </p:spPr>
      </p:sp>
      <p:sp>
        <p:nvSpPr>
          <p:cNvPr id="19" name="Text 17"/>
          <p:cNvSpPr/>
          <p:nvPr/>
        </p:nvSpPr>
        <p:spPr>
          <a:xfrm>
            <a:off x="6670328" y="1880592"/>
            <a:ext cx="228823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Key Attributes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2863" y="2291804"/>
            <a:ext cx="196252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Book_Authors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36465" y="2291804"/>
            <a:ext cx="1960141" cy="231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(book_id, author_id)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27686" y="2291804"/>
            <a:ext cx="2611562" cy="231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book_id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author_id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0328" y="2291804"/>
            <a:ext cx="228823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2863" y="2707779"/>
            <a:ext cx="196252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Borrowing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36465" y="2707779"/>
            <a:ext cx="1960141" cy="231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borrow_id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27686" y="2707779"/>
            <a:ext cx="2611562" cy="231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member_id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book_id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0328" y="2707779"/>
            <a:ext cx="1831032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borrow_date, due_date, return_date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2863" y="3345805"/>
            <a:ext cx="196252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Fines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36465" y="3345805"/>
            <a:ext cx="1960141" cy="231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fine_id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27686" y="3345805"/>
            <a:ext cx="2611562" cy="231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member_id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0328" y="3345805"/>
            <a:ext cx="228823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amount, status, date_issued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119" y="3831431"/>
            <a:ext cx="8151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Book_Authors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is a junction table resolving the many-to-many relationship between books and authors using a composite primary key.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62322" cy="107603"/>
          </a:xfrm>
          <a:prstGeom prst="roundRect">
            <a:avLst>
              <a:gd name="adj" fmla="val 22134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38609" y="411063"/>
            <a:ext cx="734541" cy="65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INTEGRITY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&amp; Foreign Keys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426940"/>
            <a:ext cx="398941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 Strategy</a:t>
            </a:r>
            <a:endParaRPr lang="en-US" sz="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3707" y="2567955"/>
            <a:ext cx="1982093" cy="3448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3124" y="2577480"/>
            <a:ext cx="1882676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Keys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4753124" y="2723629"/>
            <a:ext cx="1882676" cy="1796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Unique identifiers per table: </a:t>
            </a: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member_id</a:t>
            </a:r>
            <a:r>
              <a:rPr lang="en-US" sz="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</a:t>
            </a: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book_id</a:t>
            </a:r>
            <a:r>
              <a:rPr lang="en-US" sz="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</a:t>
            </a: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author_id</a:t>
            </a:r>
            <a:r>
              <a:rPr lang="en-US" sz="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</a:t>
            </a: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borrow_id</a:t>
            </a:r>
            <a:r>
              <a:rPr lang="en-US" sz="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</a:t>
            </a: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fine_id</a:t>
            </a:r>
            <a:endParaRPr lang="en-US" sz="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0551" y="2567955"/>
            <a:ext cx="1982093" cy="3448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9968" y="2577480"/>
            <a:ext cx="1882676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Foreign Keys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6769968" y="2723629"/>
            <a:ext cx="1882676" cy="1796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member_id</a:t>
            </a:r>
            <a:r>
              <a:rPr lang="en-US" sz="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in Borrowing/Fines · </a:t>
            </a: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book_id</a:t>
            </a:r>
            <a:r>
              <a:rPr lang="en-US" sz="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in Borrowing/Inventory · </a:t>
            </a: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author_id</a:t>
            </a:r>
            <a:r>
              <a:rPr lang="en-US" sz="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in Book_Authors</a:t>
            </a:r>
            <a:endParaRPr lang="en-US" sz="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3707" y="2964582"/>
            <a:ext cx="3998937" cy="25501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53124" y="2974107"/>
            <a:ext cx="3899520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Constraints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4753124" y="3120256"/>
            <a:ext cx="3899520" cy="898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NOT NULL</a:t>
            </a:r>
            <a:r>
              <a:rPr lang="en-US" sz="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on all PKs and FKs · </a:t>
            </a: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UNIQUE</a:t>
            </a:r>
            <a:r>
              <a:rPr lang="en-US" sz="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enforced on ISBN and email fields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70756"/>
            <a:ext cx="1057201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81174" y="613246"/>
            <a:ext cx="1344290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NORMALIZATION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4281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 Normalization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708720" y="2065437"/>
            <a:ext cx="2410048" cy="141759"/>
          </a:xfrm>
          <a:prstGeom prst="roundRect">
            <a:avLst>
              <a:gd name="adj" fmla="val 4200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1923641"/>
            <a:ext cx="425276" cy="425276"/>
          </a:xfrm>
          <a:prstGeom prst="ellipse">
            <a:avLst/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456" y="2029978"/>
            <a:ext cx="212601" cy="2126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7877" y="2490713"/>
            <a:ext cx="233920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1NF — First Normal Form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877" y="2797225"/>
            <a:ext cx="2339206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Atomic values only. No repeating groups or multi-valued attributes exist in any table.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3202" y="1852761"/>
            <a:ext cx="2410048" cy="141759"/>
          </a:xfrm>
          <a:prstGeom prst="roundRect">
            <a:avLst>
              <a:gd name="adj" fmla="val 4200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0601" y="1710965"/>
            <a:ext cx="425276" cy="425276"/>
          </a:xfrm>
          <a:prstGeom prst="ellipse">
            <a:avLst/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6939" y="1817303"/>
            <a:ext cx="212601" cy="21260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2360" y="2278038"/>
            <a:ext cx="233920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2NF — Second Normal Form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02360" y="2584549"/>
            <a:ext cx="2339206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All non-key attributes depend on the </a:t>
            </a:r>
            <a:r>
              <a:rPr lang="en-US" sz="1100" i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entire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primary key — partial dependencies eliminated.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37684" y="1640160"/>
            <a:ext cx="2410048" cy="141759"/>
          </a:xfrm>
          <a:prstGeom prst="roundRect">
            <a:avLst>
              <a:gd name="adj" fmla="val 4200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25083" y="1498364"/>
            <a:ext cx="425276" cy="425276"/>
          </a:xfrm>
          <a:prstGeom prst="ellipse">
            <a:avLst/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1421" y="1604702"/>
            <a:ext cx="212601" cy="21260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66842" y="2065437"/>
            <a:ext cx="233920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3NF — Third Normal Form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166842" y="2371948"/>
            <a:ext cx="2339206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 transitive dependencies. Every attribute depends directly on the primary key, not on other non-key attributes.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96119" y="3778895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E1E1EA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3979664"/>
            <a:ext cx="177180" cy="1417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6816" y="3956075"/>
            <a:ext cx="754930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Achieving 3NF minimizes redundancy, prevents update anomalies, and ensures long-term data integrity across all tables.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5620"/>
            <a:ext cx="1169045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81174" y="478110"/>
            <a:ext cx="1456134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VERSION CONTROL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07678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GitHub Repository Setup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05024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Repository Structure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6119" y="1885950"/>
            <a:ext cx="1880592" cy="1143223"/>
          </a:xfrm>
          <a:prstGeom prst="roundRect">
            <a:avLst>
              <a:gd name="adj" fmla="val 520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927" y="2046759"/>
            <a:ext cx="1558975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/docs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2414736"/>
            <a:ext cx="155897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ER diagrams and schema documentation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8470" y="1885950"/>
            <a:ext cx="1880592" cy="1143223"/>
          </a:xfrm>
          <a:prstGeom prst="roundRect">
            <a:avLst>
              <a:gd name="adj" fmla="val 520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278" y="2046759"/>
            <a:ext cx="1558975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/sql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79278" y="2414736"/>
            <a:ext cx="155897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DDL scripts for table creation and seeding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170932"/>
            <a:ext cx="3902943" cy="916409"/>
          </a:xfrm>
          <a:prstGeom prst="roundRect">
            <a:avLst>
              <a:gd name="adj" fmla="val 6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927" y="3331741"/>
            <a:ext cx="3581326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/src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6927" y="3699718"/>
            <a:ext cx="358132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Application source code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9701" y="1505024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Workflow &amp; Documentation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49701" y="1868239"/>
            <a:ext cx="3902943" cy="1736378"/>
          </a:xfrm>
          <a:prstGeom prst="rect">
            <a:avLst/>
          </a:prstGeom>
          <a:noFill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main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branch — stable, production-ready code only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develop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branch — active feature development and integration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README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project overview, database design summary, and setup instructions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Design Doc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full schema, ER diagram references, normalization notes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49701" y="3764087"/>
            <a:ext cx="3902943" cy="784324"/>
          </a:xfrm>
          <a:prstGeom prst="roundRect">
            <a:avLst>
              <a:gd name="adj" fmla="val 7592"/>
            </a:avLst>
          </a:prstGeom>
          <a:solidFill>
            <a:srgbClr val="E1E1EA"/>
          </a:solidFill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979143"/>
            <a:ext cx="177180" cy="14175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210398" y="3927053"/>
            <a:ext cx="3300487" cy="458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All DDL changes must go through pull requests and peer review before merging to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</a:t>
            </a:r>
            <a:r>
              <a:rPr lang="en-US" sz="11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4460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2"/>
          <p:cNvSpPr txBox="1"/>
          <p:nvPr/>
        </p:nvSpPr>
        <p:spPr>
          <a:xfrm>
            <a:off x="731520" y="594360"/>
            <a:ext cx="808418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sz="4000"/>
              <a:t>CONCLUSION</a:t>
            </a:r>
            <a:endParaRPr sz="4000"/>
          </a:p>
        </p:txBody>
      </p:sp>
      <p:sp>
        <p:nvSpPr>
          <p:cNvPr id="5" name="TextBox 3"/>
          <p:cNvSpPr txBox="1"/>
          <p:nvPr/>
        </p:nvSpPr>
        <p:spPr>
          <a:xfrm>
            <a:off x="1005840" y="1508760"/>
            <a:ext cx="7461885" cy="1553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2000">
                <a:solidFill>
                  <a:srgbClr val="2D3748"/>
                </a:solidFill>
              </a:defRPr>
            </a:pPr>
            <a:r>
              <a:t>The Library Management System provides a structured and scalable database for efficient library operations.</a:t>
            </a:r>
          </a:p>
          <a:p>
            <a:pPr algn="ctr">
              <a:spcAft>
                <a:spcPts val="1800"/>
              </a:spcAft>
              <a:defRPr sz="2000">
                <a:solidFill>
                  <a:srgbClr val="2D3748"/>
                </a:solidFill>
              </a:defRPr>
            </a:pPr>
            <a:r>
              <a:t>The design improves data integrity, reduces redundancy, and supports effective management of books, members, and borrowing records.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30225" y="3533775"/>
            <a:ext cx="808418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F4E79"/>
                </a:solidFill>
              </a:defRPr>
            </a:pPr>
            <a:r>
              <a:rPr sz="4000"/>
              <a:t>THANK YOU</a:t>
            </a:r>
            <a:endParaRPr sz="4000"/>
          </a:p>
        </p:txBody>
      </p:sp>
      <p:sp>
        <p:nvSpPr>
          <p:cNvPr id="7" name="TextBox 5"/>
          <p:cNvSpPr txBox="1"/>
          <p:nvPr/>
        </p:nvSpPr>
        <p:spPr>
          <a:xfrm>
            <a:off x="1166495" y="4347845"/>
            <a:ext cx="6073140" cy="299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i="1">
                <a:solidFill>
                  <a:srgbClr val="5A6473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5311</Words>
  <Application>WPS Presentation</Application>
  <PresentationFormat>On-screen Show (16:9)</PresentationFormat>
  <Paragraphs>283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SimSun</vt:lpstr>
      <vt:lpstr>Wingdings</vt:lpstr>
      <vt:lpstr>Times New Roman</vt:lpstr>
      <vt:lpstr>Raleway</vt:lpstr>
      <vt:lpstr>Raleway</vt:lpstr>
      <vt:lpstr>Raleway</vt:lpstr>
      <vt:lpstr>Roboto</vt:lpstr>
      <vt:lpstr>Roboto</vt:lpstr>
      <vt:lpstr>Roboto</vt:lpstr>
      <vt:lpstr>Roboto Bold</vt:lpstr>
      <vt:lpstr>Roboto Bold</vt:lpstr>
      <vt:lpstr>Roboto Bold</vt:lpstr>
      <vt:lpstr>Wingdings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AVINASH</cp:lastModifiedBy>
  <cp:revision>14</cp:revision>
  <dcterms:created xsi:type="dcterms:W3CDTF">2026-08-12T08:25:00Z</dcterms:created>
  <dcterms:modified xsi:type="dcterms:W3CDTF">2026-08-18T08:12:47Z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6499E549549144779CF60FCFFCE1599D_13</vt:lpwstr>
  </property>
  <property fmtid="{D5CDD505-2E9C-101B-9397-08002B2CF9AE}" pid="3" name="KSOProductBuildVer">
    <vt:lpwstr>1033-12.1.0.28032</vt:lpwstr>
  </property>
</Properties>
</file>